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hop performance" id="{269b2d1f-ac42-9ef5-ae92-9f18a38e05f9}">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Add your name and the date if your course asks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come from the KPIs dataset on the dashboard (total revenue 2,991,795; orders 42,754; average order value 69.98). Revenue counts only orders that are Completed AND Paid. Numbers for findings: monthly averages 105,347 before Feb 2026 vs 71,287 after; orders 1,507 vs 1,011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'Revenue Over Time' line (month vs revenue, 30 points, lowest month Feb 2026 at about 64,500) and the orders / avg_order_value line charts (set Y axis of average order value to start at 0). Average monthly orders: 1,507 before Feb 2026, 1,011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'Revenue Per Product' and 'Units Sold' bar charts. Top revenue: Headphones about 292,000, Office Chair about 288,000, Tablet about 244,000. Top units: Notebook about 8,900, Phone Case about 8,200, USB-C Cable about 7,700. Top three products by revenue: 824,321 of 2,991,795 = 27.6% of revenue; 6,967 of 80,508 units = 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'Revenue Per City' and 'Revenue Per Customer Segment'. Revenue per customer: New about 306, Regular about 302, VIP about 300. City shares of total revenue: Tehran 27.5%, Mashhad 12.6%, Karaj 10.0%, Isfahan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status bar (Completed 92.0%, Cancelled 4.9%, Returned 3.1%), payment failure bar (Cash 3.6%, others 3.9%), discount bars (average order value 74.6 at 0%, 71.6 at 5%, 68.9 at 10%, 64.9 at 15%, 61.4 at 20%, 56.1 at 30%; units per order about 1.9 throughout). Discount given: gross sales minus revenue on counted orders = 246,212 (7.6%). Caution: this shows basket size, not whether discounts attract extra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monthly revenue averaged 105,347 before Feb 2026 and 71,287 after (gap about 34,000 a month). Discount tiers 20% and 30% gave away 47,041 + 40,364 = 87,404. Top three products: 27.6% of revenue, 8.7% of units. The cause of the February drop is not known from the data; recommendation 1 is an investigation, not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orders had 50,120 rows; after removing duplicates, blank quantities and zero or negative quantities there are 49,895 order lines. Each join (payments, products, customers) kept 49,895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chemeClr val="tx1"/>
          </a:solidFill>
          <a:ln/>
        </p:spPr>
      </p:sp>
      <p:sp>
        <p:nvSpPr>
          <p:cNvPr id="3" name="Shape 1"/>
          <p:cNvSpPr/>
          <p:nvPr/>
        </p:nvSpPr>
        <p:spPr>
          <a:xfrm>
            <a:off x="548640" y="1298448"/>
            <a:ext cx="1005840" cy="45720"/>
          </a:xfrm>
          <a:prstGeom prst="rect">
            <a:avLst/>
          </a:prstGeom>
          <a:solidFill>
            <a:schemeClr val="accent2"/>
          </a:solidFill>
          <a:ln/>
        </p:spPr>
      </p:sp>
      <p:sp>
        <p:nvSpPr>
          <p:cNvPr id="4"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How is the shop performing? Jan 2024 to Jun 2026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1554480"/>
            <a:ext cx="9601200" cy="1280160"/>
          </a:xfrm>
          <a:prstGeom prst="rect">
            <a:avLst/>
          </a:prstGeom>
          <a:noFill/>
          <a:ln/>
        </p:spPr>
        <p:txBody>
          <a:bodyPr wrap="square" lIns="0" tIns="0" rIns="0" bIns="0" rtlCol="0" anchor="b"/>
          <a:lstStyle/>
          <a:p>
            <a:pPr indent="0" marL="0">
              <a:buNone/>
            </a:pPr>
            <a:r>
              <a:rPr lang="en-US" sz="4800" b="1" dirty="0">
                <a:solidFill>
                  <a:schemeClr val="bg1"/>
                </a:solidFill>
                <a:latin typeface="Georgia" pitchFamily="34" charset="0"/>
                <a:ea typeface="Georgia" pitchFamily="34" charset="-122"/>
                <a:cs typeface="Georgia" pitchFamily="34" charset="-120"/>
              </a:rPr>
              <a:t>How is the shop performing?</a:t>
            </a:r>
            <a:endParaRPr lang="en-US" sz="4800" dirty="0"/>
          </a:p>
        </p:txBody>
      </p:sp>
      <p:sp>
        <p:nvSpPr>
          <p:cNvPr id="3" name="Text 1"/>
          <p:cNvSpPr txBox="1"/>
          <p:nvPr/>
        </p:nvSpPr>
        <p:spPr>
          <a:xfrm>
            <a:off x="914400" y="2971800"/>
            <a:ext cx="9601200" cy="457200"/>
          </a:xfrm>
          <a:prstGeom prst="rect">
            <a:avLst/>
          </a:prstGeom>
          <a:noFill/>
          <a:ln/>
        </p:spPr>
        <p:txBody>
          <a:bodyPr wrap="square" lIns="0" tIns="0" rIns="0" bIns="0" rtlCol="0" anchor="ctr"/>
          <a:lstStyle/>
          <a:p>
            <a:pPr indent="0" marL="0">
              <a:buNone/>
            </a:pPr>
            <a:r>
              <a:rPr lang="en-US" sz="2200" dirty="0">
                <a:solidFill>
                  <a:schemeClr val="accent2"/>
                </a:solidFill>
              </a:rPr>
              <a:t>January 2024 to June 2026</a:t>
            </a:r>
            <a:endParaRPr lang="en-US" sz="2200" dirty="0"/>
          </a:p>
        </p:txBody>
      </p:sp>
      <p:sp>
        <p:nvSpPr>
          <p:cNvPr id="4" name="Text 2"/>
          <p:cNvSpPr txBox="1"/>
          <p:nvPr/>
        </p:nvSpPr>
        <p:spPr>
          <a:xfrm>
            <a:off x="914400" y="3474720"/>
            <a:ext cx="9601200" cy="365760"/>
          </a:xfrm>
          <a:prstGeom prst="rect">
            <a:avLst/>
          </a:prstGeom>
          <a:noFill/>
          <a:ln/>
        </p:spPr>
        <p:txBody>
          <a:bodyPr wrap="square" lIns="0" tIns="0" rIns="0" bIns="0" rtlCol="0" anchor="ctr"/>
          <a:lstStyle/>
          <a:p>
            <a:pPr indent="0" marL="0">
              <a:buNone/>
            </a:pPr>
            <a:r>
              <a:rPr lang="en-US" sz="1600" dirty="0">
                <a:solidFill>
                  <a:schemeClr val="accent5"/>
                </a:solidFill>
              </a:rPr>
              <a:t>Prepared for the Head of Operations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Revenue held steady for two years, then fell by about a third</a:t>
            </a:r>
            <a:endParaRPr lang="en-US" sz="2600" dirty="0"/>
          </a:p>
        </p:txBody>
      </p:sp>
      <p:sp>
        <p:nvSpPr>
          <p:cNvPr id="3" name="KPI card: Total revenue"/>
          <p:cNvSpPr/>
          <p:nvPr/>
        </p:nvSpPr>
        <p:spPr>
          <a:xfrm>
            <a:off x="548640" y="1600200"/>
            <a:ext cx="3511296" cy="1325880"/>
          </a:xfrm>
          <a:prstGeom prst="roundRect">
            <a:avLst>
              <a:gd name="adj" fmla="val 5517"/>
            </a:avLst>
          </a:prstGeom>
          <a:solidFill>
            <a:schemeClr val="tx2"/>
          </a:solidFill>
          <a:ln w="12700">
            <a:solidFill>
              <a:schemeClr val="tx2"/>
            </a:solidFill>
            <a:prstDash val="solid"/>
          </a:ln>
        </p:spPr>
      </p:sp>
      <p:sp>
        <p:nvSpPr>
          <p:cNvPr id="4" name="Text 2"/>
          <p:cNvSpPr txBox="1"/>
          <p:nvPr/>
        </p:nvSpPr>
        <p:spPr>
          <a:xfrm>
            <a:off x="777240" y="1691640"/>
            <a:ext cx="3054096" cy="777240"/>
          </a:xfrm>
          <a:prstGeom prst="rect">
            <a:avLst/>
          </a:prstGeom>
          <a:noFill/>
          <a:ln/>
        </p:spPr>
        <p:txBody>
          <a:bodyPr wrap="square" lIns="0" tIns="0" rIns="0" bIns="0" rtlCol="0" anchor="ctr"/>
          <a:lstStyle/>
          <a:p>
            <a:pPr indent="0" marL="0">
              <a:buNone/>
            </a:pPr>
            <a:r>
              <a:rPr lang="en-US" sz="4000" b="1" dirty="0">
                <a:solidFill>
                  <a:schemeClr val="bg1"/>
                </a:solidFill>
                <a:latin typeface="Georgia" pitchFamily="34" charset="0"/>
                <a:ea typeface="Georgia" pitchFamily="34" charset="-122"/>
                <a:cs typeface="Georgia" pitchFamily="34" charset="-120"/>
              </a:rPr>
              <a:t>2,991,795</a:t>
            </a:r>
            <a:endParaRPr lang="en-US" sz="4000" dirty="0"/>
          </a:p>
        </p:txBody>
      </p:sp>
      <p:sp>
        <p:nvSpPr>
          <p:cNvPr id="5" name="Text 3"/>
          <p:cNvSpPr txBox="1"/>
          <p:nvPr/>
        </p:nvSpPr>
        <p:spPr>
          <a:xfrm>
            <a:off x="777240" y="2468880"/>
            <a:ext cx="3054096" cy="320040"/>
          </a:xfrm>
          <a:prstGeom prst="rect">
            <a:avLst/>
          </a:prstGeom>
          <a:noFill/>
          <a:ln/>
        </p:spPr>
        <p:txBody>
          <a:bodyPr wrap="square" lIns="0" tIns="0" rIns="0" bIns="0" rtlCol="0" anchor="ctr"/>
          <a:lstStyle/>
          <a:p>
            <a:pPr indent="0" marL="0">
              <a:buNone/>
            </a:pPr>
            <a:r>
              <a:rPr lang="en-US" sz="1400" dirty="0">
                <a:solidFill>
                  <a:schemeClr val="accent5"/>
                </a:solidFill>
              </a:rPr>
              <a:t>Total revenue</a:t>
            </a:r>
            <a:endParaRPr lang="en-US" sz="1400" dirty="0"/>
          </a:p>
        </p:txBody>
      </p:sp>
      <p:sp>
        <p:nvSpPr>
          <p:cNvPr id="6" name="KPI card: Orders (completed and paid)"/>
          <p:cNvSpPr/>
          <p:nvPr/>
        </p:nvSpPr>
        <p:spPr>
          <a:xfrm>
            <a:off x="4338828" y="1600200"/>
            <a:ext cx="3511296" cy="1325880"/>
          </a:xfrm>
          <a:prstGeom prst="roundRect">
            <a:avLst>
              <a:gd name="adj" fmla="val 5517"/>
            </a:avLst>
          </a:prstGeom>
          <a:solidFill>
            <a:schemeClr val="tx2"/>
          </a:solidFill>
          <a:ln w="12700">
            <a:solidFill>
              <a:schemeClr val="tx2"/>
            </a:solidFill>
            <a:prstDash val="solid"/>
          </a:ln>
        </p:spPr>
      </p:sp>
      <p:sp>
        <p:nvSpPr>
          <p:cNvPr id="7" name="Text 5"/>
          <p:cNvSpPr txBox="1"/>
          <p:nvPr/>
        </p:nvSpPr>
        <p:spPr>
          <a:xfrm>
            <a:off x="4567428" y="1691640"/>
            <a:ext cx="3054096" cy="777240"/>
          </a:xfrm>
          <a:prstGeom prst="rect">
            <a:avLst/>
          </a:prstGeom>
          <a:noFill/>
          <a:ln/>
        </p:spPr>
        <p:txBody>
          <a:bodyPr wrap="square" lIns="0" tIns="0" rIns="0" bIns="0" rtlCol="0" anchor="ctr"/>
          <a:lstStyle/>
          <a:p>
            <a:pPr indent="0" marL="0">
              <a:buNone/>
            </a:pPr>
            <a:r>
              <a:rPr lang="en-US" sz="4000" b="1" dirty="0">
                <a:solidFill>
                  <a:schemeClr val="bg1"/>
                </a:solidFill>
                <a:latin typeface="Georgia" pitchFamily="34" charset="0"/>
                <a:ea typeface="Georgia" pitchFamily="34" charset="-122"/>
                <a:cs typeface="Georgia" pitchFamily="34" charset="-120"/>
              </a:rPr>
              <a:t>42,754</a:t>
            </a:r>
            <a:endParaRPr lang="en-US" sz="4000" dirty="0"/>
          </a:p>
        </p:txBody>
      </p:sp>
      <p:sp>
        <p:nvSpPr>
          <p:cNvPr id="8" name="Text 6"/>
          <p:cNvSpPr txBox="1"/>
          <p:nvPr/>
        </p:nvSpPr>
        <p:spPr>
          <a:xfrm>
            <a:off x="4567428" y="2468880"/>
            <a:ext cx="3054096" cy="320040"/>
          </a:xfrm>
          <a:prstGeom prst="rect">
            <a:avLst/>
          </a:prstGeom>
          <a:noFill/>
          <a:ln/>
        </p:spPr>
        <p:txBody>
          <a:bodyPr wrap="square" lIns="0" tIns="0" rIns="0" bIns="0" rtlCol="0" anchor="ctr"/>
          <a:lstStyle/>
          <a:p>
            <a:pPr indent="0" marL="0">
              <a:buNone/>
            </a:pPr>
            <a:r>
              <a:rPr lang="en-US" sz="1400" dirty="0">
                <a:solidFill>
                  <a:schemeClr val="accent5"/>
                </a:solidFill>
              </a:rPr>
              <a:t>Orders (completed and paid)</a:t>
            </a:r>
            <a:endParaRPr lang="en-US" sz="1400" dirty="0"/>
          </a:p>
        </p:txBody>
      </p:sp>
      <p:sp>
        <p:nvSpPr>
          <p:cNvPr id="9" name="KPI card: Average order value"/>
          <p:cNvSpPr/>
          <p:nvPr/>
        </p:nvSpPr>
        <p:spPr>
          <a:xfrm>
            <a:off x="8129016" y="1600200"/>
            <a:ext cx="3511296" cy="1325880"/>
          </a:xfrm>
          <a:prstGeom prst="roundRect">
            <a:avLst>
              <a:gd name="adj" fmla="val 5517"/>
            </a:avLst>
          </a:prstGeom>
          <a:solidFill>
            <a:schemeClr val="tx2"/>
          </a:solidFill>
          <a:ln w="12700">
            <a:solidFill>
              <a:schemeClr val="tx2"/>
            </a:solidFill>
            <a:prstDash val="solid"/>
          </a:ln>
        </p:spPr>
      </p:sp>
      <p:sp>
        <p:nvSpPr>
          <p:cNvPr id="10" name="Text 8"/>
          <p:cNvSpPr txBox="1"/>
          <p:nvPr/>
        </p:nvSpPr>
        <p:spPr>
          <a:xfrm>
            <a:off x="8357616" y="1691640"/>
            <a:ext cx="3054096" cy="777240"/>
          </a:xfrm>
          <a:prstGeom prst="rect">
            <a:avLst/>
          </a:prstGeom>
          <a:noFill/>
          <a:ln/>
        </p:spPr>
        <p:txBody>
          <a:bodyPr wrap="square" lIns="0" tIns="0" rIns="0" bIns="0" rtlCol="0" anchor="ctr"/>
          <a:lstStyle/>
          <a:p>
            <a:pPr indent="0" marL="0">
              <a:buNone/>
            </a:pPr>
            <a:r>
              <a:rPr lang="en-US" sz="4000" b="1" dirty="0">
                <a:solidFill>
                  <a:schemeClr val="bg1"/>
                </a:solidFill>
                <a:latin typeface="Georgia" pitchFamily="34" charset="0"/>
                <a:ea typeface="Georgia" pitchFamily="34" charset="-122"/>
                <a:cs typeface="Georgia" pitchFamily="34" charset="-120"/>
              </a:rPr>
              <a:t>69.98</a:t>
            </a:r>
            <a:endParaRPr lang="en-US" sz="4000" dirty="0"/>
          </a:p>
        </p:txBody>
      </p:sp>
      <p:sp>
        <p:nvSpPr>
          <p:cNvPr id="11" name="Text 9"/>
          <p:cNvSpPr txBox="1"/>
          <p:nvPr/>
        </p:nvSpPr>
        <p:spPr>
          <a:xfrm>
            <a:off x="8357616" y="2468880"/>
            <a:ext cx="3054096" cy="320040"/>
          </a:xfrm>
          <a:prstGeom prst="rect">
            <a:avLst/>
          </a:prstGeom>
          <a:noFill/>
          <a:ln/>
        </p:spPr>
        <p:txBody>
          <a:bodyPr wrap="square" lIns="0" tIns="0" rIns="0" bIns="0" rtlCol="0" anchor="ctr"/>
          <a:lstStyle/>
          <a:p>
            <a:pPr indent="0" marL="0">
              <a:buNone/>
            </a:pPr>
            <a:r>
              <a:rPr lang="en-US" sz="1400" dirty="0">
                <a:solidFill>
                  <a:schemeClr val="accent5"/>
                </a:solidFill>
              </a:rPr>
              <a:t>Average order value</a:t>
            </a:r>
            <a:endParaRPr lang="en-US" sz="1400" dirty="0"/>
          </a:p>
        </p:txBody>
      </p:sp>
      <p:sp>
        <p:nvSpPr>
          <p:cNvPr id="12" name="Finding marker 1"/>
          <p:cNvSpPr/>
          <p:nvPr/>
        </p:nvSpPr>
        <p:spPr>
          <a:xfrm>
            <a:off x="548640" y="333756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4" name="Text 12"/>
          <p:cNvSpPr txBox="1"/>
          <p:nvPr/>
        </p:nvSpPr>
        <p:spPr>
          <a:xfrm>
            <a:off x="1188720" y="3246120"/>
            <a:ext cx="10451592" cy="868680"/>
          </a:xfrm>
          <a:prstGeom prst="rect">
            <a:avLst/>
          </a:prstGeom>
          <a:noFill/>
          <a:ln/>
        </p:spPr>
        <p:txBody>
          <a:bodyPr wrap="square" lIns="0" tIns="0" rIns="0" bIns="0" rtlCol="0" anchor="ctr"/>
          <a:lstStyle/>
          <a:p>
            <a:pPr indent="0" marL="0">
              <a:buNone/>
            </a:pPr>
            <a:r>
              <a:rPr lang="en-US" sz="1500" b="1" dirty="0">
                <a:solidFill>
                  <a:schemeClr val="tx1"/>
                </a:solidFill>
              </a:rPr>
              <a:t>Orders fell, not order value. </a:t>
            </a:r>
            <a:pPr indent="0" marL="0">
              <a:buNone/>
            </a:pPr>
            <a:r>
              <a:rPr lang="en-US" sz="1500" dirty="0">
                <a:solidFill>
                  <a:schemeClr val="tx1"/>
                </a:solidFill>
              </a:rPr>
              <a:t>Monthly revenue dropped from about 105,000 to about 71,000 from February 2026 (down 32%). Orders fell from about 1,500 to about 1,000 a month, while the average order stayed near 70.</a:t>
            </a:r>
            <a:endParaRPr lang="en-US" sz="1500" dirty="0"/>
          </a:p>
        </p:txBody>
      </p:sp>
      <p:sp>
        <p:nvSpPr>
          <p:cNvPr id="15" name="Finding marker 2"/>
          <p:cNvSpPr/>
          <p:nvPr/>
        </p:nvSpPr>
        <p:spPr>
          <a:xfrm>
            <a:off x="548640" y="4325112"/>
            <a:ext cx="457200" cy="457200"/>
          </a:xfrm>
          <a:prstGeom prst="ellipse">
            <a:avLst/>
          </a:prstGeom>
          <a:solidFill>
            <a:schemeClr val="accent2"/>
          </a:solidFill>
          <a:ln w="12700">
            <a:solidFill>
              <a:schemeClr val="accent2"/>
            </a:solidFill>
            <a:prstDash val="solid"/>
          </a:ln>
        </p:spPr>
      </p:sp>
      <p:sp>
        <p:nvSpPr>
          <p:cNvPr id="16" name="Text 14"/>
          <p:cNvSpPr txBox="1"/>
          <p:nvPr/>
        </p:nvSpPr>
        <p:spPr>
          <a:xfrm>
            <a:off x="548640" y="43251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7" name="Text 15"/>
          <p:cNvSpPr txBox="1"/>
          <p:nvPr/>
        </p:nvSpPr>
        <p:spPr>
          <a:xfrm>
            <a:off x="1188720" y="4233672"/>
            <a:ext cx="10451592" cy="868680"/>
          </a:xfrm>
          <a:prstGeom prst="rect">
            <a:avLst/>
          </a:prstGeom>
          <a:noFill/>
          <a:ln/>
        </p:spPr>
        <p:txBody>
          <a:bodyPr wrap="square" lIns="0" tIns="0" rIns="0" bIns="0" rtlCol="0" anchor="ctr"/>
          <a:lstStyle/>
          <a:p>
            <a:pPr indent="0" marL="0">
              <a:buNone/>
            </a:pPr>
            <a:r>
              <a:rPr lang="en-US" sz="1500" b="1" dirty="0">
                <a:solidFill>
                  <a:schemeClr val="tx1"/>
                </a:solidFill>
              </a:rPr>
              <a:t>A few products carry the shop. </a:t>
            </a:r>
            <a:pPr indent="0" marL="0">
              <a:buNone/>
            </a:pPr>
            <a:r>
              <a:rPr lang="en-US" sz="1500" dirty="0">
                <a:solidFill>
                  <a:schemeClr val="tx1"/>
                </a:solidFill>
              </a:rPr>
              <a:t>Headphones, Office Chair and Tablet bring in about 28% of revenue from under 9% of units sold.</a:t>
            </a:r>
            <a:endParaRPr lang="en-US" sz="1500" dirty="0"/>
          </a:p>
        </p:txBody>
      </p:sp>
      <p:sp>
        <p:nvSpPr>
          <p:cNvPr id="18" name="Finding marker 3"/>
          <p:cNvSpPr/>
          <p:nvPr/>
        </p:nvSpPr>
        <p:spPr>
          <a:xfrm>
            <a:off x="548640" y="5312664"/>
            <a:ext cx="457200" cy="457200"/>
          </a:xfrm>
          <a:prstGeom prst="ellipse">
            <a:avLst/>
          </a:prstGeom>
          <a:solidFill>
            <a:schemeClr val="accent2"/>
          </a:solidFill>
          <a:ln w="12700">
            <a:solidFill>
              <a:schemeClr val="accent2"/>
            </a:solidFill>
            <a:prstDash val="solid"/>
          </a:ln>
        </p:spPr>
      </p:sp>
      <p:sp>
        <p:nvSpPr>
          <p:cNvPr id="19" name="Text 17"/>
          <p:cNvSpPr txBox="1"/>
          <p:nvPr/>
        </p:nvSpPr>
        <p:spPr>
          <a:xfrm>
            <a:off x="548640" y="531266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0" name="Text 18"/>
          <p:cNvSpPr txBox="1"/>
          <p:nvPr/>
        </p:nvSpPr>
        <p:spPr>
          <a:xfrm>
            <a:off x="1188720" y="5221224"/>
            <a:ext cx="10451592" cy="868680"/>
          </a:xfrm>
          <a:prstGeom prst="rect">
            <a:avLst/>
          </a:prstGeom>
          <a:noFill/>
          <a:ln/>
        </p:spPr>
        <p:txBody>
          <a:bodyPr wrap="square" lIns="0" tIns="0" rIns="0" bIns="0" rtlCol="0" anchor="ctr"/>
          <a:lstStyle/>
          <a:p>
            <a:pPr indent="0" marL="0">
              <a:buNone/>
            </a:pPr>
            <a:r>
              <a:rPr lang="en-US" sz="1500" b="1" dirty="0">
                <a:solidFill>
                  <a:schemeClr val="tx1"/>
                </a:solidFill>
              </a:rPr>
              <a:t>Discounts do not grow orders. </a:t>
            </a:r>
            <a:pPr indent="0" marL="0">
              <a:buNone/>
            </a:pPr>
            <a:r>
              <a:rPr lang="en-US" sz="1500" dirty="0">
                <a:solidFill>
                  <a:schemeClr val="tx1"/>
                </a:solidFill>
              </a:rPr>
              <a:t>Customers buy about 1.9 items per order at every discount level, yet discounts gave away about 246,000 (7.6% of gross sales).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Orders fell by a third from February 2026, but order value did not</a:t>
            </a:r>
            <a:endParaRPr lang="en-US" sz="2600" dirty="0"/>
          </a:p>
        </p:txBody>
      </p:sp>
      <p:sp>
        <p:nvSpPr>
          <p:cNvPr id="3" name="Chart frame: monthly revenue"/>
          <p:cNvSpPr/>
          <p:nvPr/>
        </p:nvSpPr>
        <p:spPr>
          <a:xfrm>
            <a:off x="548640" y="1600200"/>
            <a:ext cx="5394960" cy="3291840"/>
          </a:xfrm>
          <a:prstGeom prst="roundRect">
            <a:avLst>
              <a:gd name="adj" fmla="val 2222"/>
            </a:avLst>
          </a:prstGeom>
          <a:solidFill>
            <a:schemeClr val="tx2"/>
          </a:solidFill>
          <a:ln w="12700">
            <a:solidFill>
              <a:schemeClr val="accent3"/>
            </a:solidFill>
            <a:prstDash val="dash"/>
          </a:ln>
        </p:spPr>
      </p:sp>
      <p:sp>
        <p:nvSpPr>
          <p:cNvPr id="4" name="Text 2"/>
          <p:cNvSpPr txBox="1"/>
          <p:nvPr/>
        </p:nvSpPr>
        <p:spPr>
          <a:xfrm>
            <a:off x="731520" y="1783080"/>
            <a:ext cx="5029200" cy="2926080"/>
          </a:xfrm>
          <a:prstGeom prst="rect">
            <a:avLst/>
          </a:prstGeom>
          <a:noFill/>
          <a:ln/>
        </p:spPr>
        <p:txBody>
          <a:bodyPr wrap="square" lIns="0" tIns="0" rIns="0" bIns="0" rtlCol="0" anchor="ctr"/>
          <a:lstStyle/>
          <a:p>
            <a:pPr algn="ctr" indent="0" marL="0">
              <a:buNone/>
            </a:pPr>
            <a:r>
              <a:rPr lang="en-US" sz="1500" b="1" dirty="0">
                <a:solidFill>
                  <a:schemeClr val="bg1"/>
                </a:solidFill>
              </a:rPr>
              <a:t>Monthly revenue (line chart)</a:t>
            </a:r>
            <a:endParaRPr lang="en-US" sz="1500" dirty="0"/>
          </a:p>
          <a:p>
            <a:pPr algn="ctr" indent="0" marL="0">
              <a:buNone/>
            </a:pPr>
            <a:r>
              <a:rPr lang="en-US" sz="1100" dirty="0">
                <a:solidFill>
                  <a:schemeClr val="accent5"/>
                </a:solidFill>
              </a:rPr>
              <a:t>Paste the dashboard chart here. 30 months, flat until Jan 2026, then about a third lower</a:t>
            </a:r>
            <a:endParaRPr lang="en-US" sz="1500" dirty="0"/>
          </a:p>
        </p:txBody>
      </p:sp>
      <p:sp>
        <p:nvSpPr>
          <p:cNvPr id="5" name="Chart frame: orders and AOV"/>
          <p:cNvSpPr/>
          <p:nvPr/>
        </p:nvSpPr>
        <p:spPr>
          <a:xfrm>
            <a:off x="6245352" y="1600200"/>
            <a:ext cx="5394960" cy="3291840"/>
          </a:xfrm>
          <a:prstGeom prst="roundRect">
            <a:avLst>
              <a:gd name="adj" fmla="val 2222"/>
            </a:avLst>
          </a:prstGeom>
          <a:solidFill>
            <a:schemeClr val="tx2"/>
          </a:solidFill>
          <a:ln w="12700">
            <a:solidFill>
              <a:schemeClr val="accent3"/>
            </a:solidFill>
            <a:prstDash val="dash"/>
          </a:ln>
        </p:spPr>
      </p:sp>
      <p:sp>
        <p:nvSpPr>
          <p:cNvPr id="6" name="Text 4"/>
          <p:cNvSpPr txBox="1"/>
          <p:nvPr/>
        </p:nvSpPr>
        <p:spPr>
          <a:xfrm>
            <a:off x="6428232" y="1783080"/>
            <a:ext cx="5029200" cy="2926080"/>
          </a:xfrm>
          <a:prstGeom prst="rect">
            <a:avLst/>
          </a:prstGeom>
          <a:noFill/>
          <a:ln/>
        </p:spPr>
        <p:txBody>
          <a:bodyPr wrap="square" lIns="0" tIns="0" rIns="0" bIns="0" rtlCol="0" anchor="ctr"/>
          <a:lstStyle/>
          <a:p>
            <a:pPr algn="ctr" indent="0" marL="0">
              <a:buNone/>
            </a:pPr>
            <a:r>
              <a:rPr lang="en-US" sz="1500" b="1" dirty="0">
                <a:solidFill>
                  <a:schemeClr val="bg1"/>
                </a:solidFill>
              </a:rPr>
              <a:t>Orders per month and average order value</a:t>
            </a:r>
            <a:endParaRPr lang="en-US" sz="1500" dirty="0"/>
          </a:p>
          <a:p>
            <a:pPr algn="ctr" indent="0" marL="0">
              <a:buNone/>
            </a:pPr>
            <a:r>
              <a:rPr lang="en-US" sz="1100" dirty="0">
                <a:solidFill>
                  <a:schemeClr val="accent5"/>
                </a:solidFill>
              </a:rPr>
              <a:t>Paste the dashboard charts here. Orders fall to about 1,000; order value stays near 70</a:t>
            </a:r>
            <a:endParaRPr lang="en-US" sz="1500" dirty="0"/>
          </a:p>
        </p:txBody>
      </p:sp>
      <p:sp>
        <p:nvSpPr>
          <p:cNvPr id="7" name="Shape 5"/>
          <p:cNvSpPr/>
          <p:nvPr/>
        </p:nvSpPr>
        <p:spPr>
          <a:xfrm>
            <a:off x="548640" y="5074920"/>
            <a:ext cx="64008" cy="914400"/>
          </a:xfrm>
          <a:prstGeom prst="rect">
            <a:avLst/>
          </a:prstGeom>
          <a:solidFill>
            <a:schemeClr val="accent2"/>
          </a:solidFill>
          <a:ln w="12700">
            <a:solidFill>
              <a:schemeClr val="accent2"/>
            </a:solidFill>
            <a:prstDash val="solid"/>
          </a:ln>
        </p:spPr>
      </p:sp>
      <p:sp>
        <p:nvSpPr>
          <p:cNvPr id="8" name="Text 6"/>
          <p:cNvSpPr txBox="1"/>
          <p:nvPr/>
        </p:nvSpPr>
        <p:spPr>
          <a:xfrm>
            <a:off x="777240" y="5074920"/>
            <a:ext cx="10863072" cy="914400"/>
          </a:xfrm>
          <a:prstGeom prst="rect">
            <a:avLst/>
          </a:prstGeom>
          <a:noFill/>
          <a:ln/>
        </p:spPr>
        <p:txBody>
          <a:bodyPr wrap="square" lIns="0" tIns="0" rIns="0" bIns="0" rtlCol="0" anchor="ctr"/>
          <a:lstStyle/>
          <a:p>
            <a:pPr indent="0" marL="0">
              <a:buNone/>
            </a:pPr>
            <a:r>
              <a:rPr lang="en-US" sz="1500" dirty="0">
                <a:solidFill>
                  <a:schemeClr val="tx1"/>
                </a:solidFill>
              </a:rPr>
              <a:t>Revenue was steady at about 105,000 a month for two years, then dropped to about 71,000. The cause is fewer orders, not lower spending, and every category, city and customer segment fell together, which points to a shop-wide cause. The data cannot say what changed, so that is the first thing to investigate.</a:t>
            </a:r>
            <a:endParaRPr lang="en-US" sz="1500" dirty="0"/>
          </a:p>
        </p:txBody>
      </p:sp>
      <p:sp>
        <p:nvSpPr>
          <p:cNvPr id="9" name="Text 7"/>
          <p:cNvSpPr txBox="1"/>
          <p:nvPr/>
        </p:nvSpPr>
        <p:spPr>
          <a:xfrm>
            <a:off x="548640" y="6080760"/>
            <a:ext cx="11091672" cy="274320"/>
          </a:xfrm>
          <a:prstGeom prst="rect">
            <a:avLst/>
          </a:prstGeom>
          <a:noFill/>
          <a:ln/>
        </p:spPr>
        <p:txBody>
          <a:bodyPr wrap="square" lIns="0" tIns="0" rIns="0" bIns="0" rtlCol="0" anchor="ctr"/>
          <a:lstStyle/>
          <a:p>
            <a:pPr indent="0" marL="0">
              <a:buNone/>
            </a:pPr>
            <a:r>
              <a:rPr lang="en-US" sz="1000" i="1" dirty="0">
                <a:solidFill>
                  <a:schemeClr val="accent3"/>
                </a:solidFill>
              </a:rPr>
              <a:t>Counted orders only (completed and paid). Excludes 33 counted orders (about 0.06% of revenue) with no order date.</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A few expensive products earn most of the revenue</a:t>
            </a:r>
            <a:endParaRPr lang="en-US" sz="2600" dirty="0"/>
          </a:p>
        </p:txBody>
      </p:sp>
      <p:sp>
        <p:nvSpPr>
          <p:cNvPr id="3" name="Chart frame: revenue by product"/>
          <p:cNvSpPr/>
          <p:nvPr/>
        </p:nvSpPr>
        <p:spPr>
          <a:xfrm>
            <a:off x="548640" y="1600200"/>
            <a:ext cx="5394960" cy="3291840"/>
          </a:xfrm>
          <a:prstGeom prst="roundRect">
            <a:avLst>
              <a:gd name="adj" fmla="val 2222"/>
            </a:avLst>
          </a:prstGeom>
          <a:solidFill>
            <a:schemeClr val="tx2"/>
          </a:solidFill>
          <a:ln w="12700">
            <a:solidFill>
              <a:schemeClr val="accent3"/>
            </a:solidFill>
            <a:prstDash val="dash"/>
          </a:ln>
        </p:spPr>
      </p:sp>
      <p:sp>
        <p:nvSpPr>
          <p:cNvPr id="4" name="Text 2"/>
          <p:cNvSpPr txBox="1"/>
          <p:nvPr/>
        </p:nvSpPr>
        <p:spPr>
          <a:xfrm>
            <a:off x="731520" y="1783080"/>
            <a:ext cx="5029200" cy="2926080"/>
          </a:xfrm>
          <a:prstGeom prst="rect">
            <a:avLst/>
          </a:prstGeom>
          <a:noFill/>
          <a:ln/>
        </p:spPr>
        <p:txBody>
          <a:bodyPr wrap="square" lIns="0" tIns="0" rIns="0" bIns="0" rtlCol="0" anchor="ctr"/>
          <a:lstStyle/>
          <a:p>
            <a:pPr algn="ctr" indent="0" marL="0">
              <a:buNone/>
            </a:pPr>
            <a:r>
              <a:rPr lang="en-US" sz="1500" b="1" dirty="0">
                <a:solidFill>
                  <a:schemeClr val="bg1"/>
                </a:solidFill>
              </a:rPr>
              <a:t>Revenue by product</a:t>
            </a:r>
            <a:endParaRPr lang="en-US" sz="1500" dirty="0"/>
          </a:p>
          <a:p>
            <a:pPr algn="ctr" indent="0" marL="0">
              <a:buNone/>
            </a:pPr>
            <a:r>
              <a:rPr lang="en-US" sz="1100" dirty="0">
                <a:solidFill>
                  <a:schemeClr val="accent5"/>
                </a:solidFill>
              </a:rPr>
              <a:t>Paste the dashboard chart here. Headphones, Office Chair and Tablet lead</a:t>
            </a:r>
            <a:endParaRPr lang="en-US" sz="1500" dirty="0"/>
          </a:p>
        </p:txBody>
      </p:sp>
      <p:sp>
        <p:nvSpPr>
          <p:cNvPr id="5" name="Chart frame: units by product"/>
          <p:cNvSpPr/>
          <p:nvPr/>
        </p:nvSpPr>
        <p:spPr>
          <a:xfrm>
            <a:off x="6245352" y="1600200"/>
            <a:ext cx="5394960" cy="3291840"/>
          </a:xfrm>
          <a:prstGeom prst="roundRect">
            <a:avLst>
              <a:gd name="adj" fmla="val 2222"/>
            </a:avLst>
          </a:prstGeom>
          <a:solidFill>
            <a:schemeClr val="tx2"/>
          </a:solidFill>
          <a:ln w="12700">
            <a:solidFill>
              <a:schemeClr val="accent3"/>
            </a:solidFill>
            <a:prstDash val="dash"/>
          </a:ln>
        </p:spPr>
      </p:sp>
      <p:sp>
        <p:nvSpPr>
          <p:cNvPr id="6" name="Text 4"/>
          <p:cNvSpPr txBox="1"/>
          <p:nvPr/>
        </p:nvSpPr>
        <p:spPr>
          <a:xfrm>
            <a:off x="6428232" y="1783080"/>
            <a:ext cx="5029200" cy="2926080"/>
          </a:xfrm>
          <a:prstGeom prst="rect">
            <a:avLst/>
          </a:prstGeom>
          <a:noFill/>
          <a:ln/>
        </p:spPr>
        <p:txBody>
          <a:bodyPr wrap="square" lIns="0" tIns="0" rIns="0" bIns="0" rtlCol="0" anchor="ctr"/>
          <a:lstStyle/>
          <a:p>
            <a:pPr algn="ctr" indent="0" marL="0">
              <a:buNone/>
            </a:pPr>
            <a:r>
              <a:rPr lang="en-US" sz="1500" b="1" dirty="0">
                <a:solidFill>
                  <a:schemeClr val="bg1"/>
                </a:solidFill>
              </a:rPr>
              <a:t>Units sold by product</a:t>
            </a:r>
            <a:endParaRPr lang="en-US" sz="1500" dirty="0"/>
          </a:p>
          <a:p>
            <a:pPr algn="ctr" indent="0" marL="0">
              <a:buNone/>
            </a:pPr>
            <a:r>
              <a:rPr lang="en-US" sz="1100" dirty="0">
                <a:solidFill>
                  <a:schemeClr val="accent5"/>
                </a:solidFill>
              </a:rPr>
              <a:t>Paste the dashboard chart here. Notebook, Phone Case and USB-C Cable lead</a:t>
            </a:r>
            <a:endParaRPr lang="en-US" sz="1500" dirty="0"/>
          </a:p>
        </p:txBody>
      </p:sp>
      <p:sp>
        <p:nvSpPr>
          <p:cNvPr id="7" name="Shape 5"/>
          <p:cNvSpPr/>
          <p:nvPr/>
        </p:nvSpPr>
        <p:spPr>
          <a:xfrm>
            <a:off x="548640" y="5074920"/>
            <a:ext cx="64008" cy="914400"/>
          </a:xfrm>
          <a:prstGeom prst="rect">
            <a:avLst/>
          </a:prstGeom>
          <a:solidFill>
            <a:schemeClr val="accent2"/>
          </a:solidFill>
          <a:ln w="12700">
            <a:solidFill>
              <a:schemeClr val="accent2"/>
            </a:solidFill>
            <a:prstDash val="solid"/>
          </a:ln>
        </p:spPr>
      </p:sp>
      <p:sp>
        <p:nvSpPr>
          <p:cNvPr id="8" name="Text 6"/>
          <p:cNvSpPr txBox="1"/>
          <p:nvPr/>
        </p:nvSpPr>
        <p:spPr>
          <a:xfrm>
            <a:off x="777240" y="5074920"/>
            <a:ext cx="10863072" cy="914400"/>
          </a:xfrm>
          <a:prstGeom prst="rect">
            <a:avLst/>
          </a:prstGeom>
          <a:noFill/>
          <a:ln/>
        </p:spPr>
        <p:txBody>
          <a:bodyPr wrap="square" lIns="0" tIns="0" rIns="0" bIns="0" rtlCol="0" anchor="ctr"/>
          <a:lstStyle/>
          <a:p>
            <a:pPr indent="0" marL="0">
              <a:buNone/>
            </a:pPr>
            <a:r>
              <a:rPr lang="en-US" sz="1500" dirty="0">
                <a:solidFill>
                  <a:schemeClr val="tx1"/>
                </a:solidFill>
              </a:rPr>
              <a:t>Headphones, Office Chair and Tablet earn about 28% of revenue from under 9% of units sold. Notebooks, phone cases and cables sell the most units but earn little, so price, not volume, decides revenue.</a:t>
            </a:r>
            <a:endParaRPr lang="en-US" sz="1500" dirty="0"/>
          </a:p>
        </p:txBody>
      </p:sp>
      <p:sp>
        <p:nvSpPr>
          <p:cNvPr id="9" name="Text 7"/>
          <p:cNvSpPr txBox="1"/>
          <p:nvPr/>
        </p:nvSpPr>
        <p:spPr>
          <a:xfrm>
            <a:off x="548640" y="6080760"/>
            <a:ext cx="11091672" cy="274320"/>
          </a:xfrm>
          <a:prstGeom prst="rect">
            <a:avLst/>
          </a:prstGeom>
          <a:noFill/>
          <a:ln/>
        </p:spPr>
        <p:txBody>
          <a:bodyPr wrap="square" lIns="0" tIns="0" rIns="0" bIns="0" rtlCol="0" anchor="ctr"/>
          <a:lstStyle/>
          <a:p>
            <a:pPr indent="0" marL="0">
              <a:buNone/>
            </a:pPr>
            <a:r>
              <a:rPr lang="en-US" sz="1000" i="1" dirty="0">
                <a:solidFill>
                  <a:schemeClr val="accent3"/>
                </a:solidFill>
              </a:rPr>
              <a:t>Monitor is priced at 21, which looks too low and may understate its revenue. It was kept as given and flagged as possibly incorrect.</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Tehran is the biggest market, and every segment spends about the same</a:t>
            </a:r>
            <a:endParaRPr lang="en-US" sz="2600" dirty="0"/>
          </a:p>
        </p:txBody>
      </p:sp>
      <p:sp>
        <p:nvSpPr>
          <p:cNvPr id="3" name="Chart frame: revenue by city"/>
          <p:cNvSpPr/>
          <p:nvPr/>
        </p:nvSpPr>
        <p:spPr>
          <a:xfrm>
            <a:off x="548640" y="1600200"/>
            <a:ext cx="5394960" cy="3291840"/>
          </a:xfrm>
          <a:prstGeom prst="roundRect">
            <a:avLst>
              <a:gd name="adj" fmla="val 2222"/>
            </a:avLst>
          </a:prstGeom>
          <a:solidFill>
            <a:schemeClr val="tx2"/>
          </a:solidFill>
          <a:ln w="12700">
            <a:solidFill>
              <a:schemeClr val="accent3"/>
            </a:solidFill>
            <a:prstDash val="dash"/>
          </a:ln>
        </p:spPr>
      </p:sp>
      <p:sp>
        <p:nvSpPr>
          <p:cNvPr id="4" name="Text 2"/>
          <p:cNvSpPr txBox="1"/>
          <p:nvPr/>
        </p:nvSpPr>
        <p:spPr>
          <a:xfrm>
            <a:off x="731520" y="1783080"/>
            <a:ext cx="5029200" cy="2926080"/>
          </a:xfrm>
          <a:prstGeom prst="rect">
            <a:avLst/>
          </a:prstGeom>
          <a:noFill/>
          <a:ln/>
        </p:spPr>
        <p:txBody>
          <a:bodyPr wrap="square" lIns="0" tIns="0" rIns="0" bIns="0" rtlCol="0" anchor="ctr"/>
          <a:lstStyle/>
          <a:p>
            <a:pPr algn="ctr" indent="0" marL="0">
              <a:buNone/>
            </a:pPr>
            <a:r>
              <a:rPr lang="en-US" sz="1500" b="1" dirty="0">
                <a:solidFill>
                  <a:schemeClr val="bg1"/>
                </a:solidFill>
              </a:rPr>
              <a:t>Revenue by city</a:t>
            </a:r>
            <a:endParaRPr lang="en-US" sz="1500" dirty="0"/>
          </a:p>
          <a:p>
            <a:pPr algn="ctr" indent="0" marL="0">
              <a:buNone/>
            </a:pPr>
            <a:r>
              <a:rPr lang="en-US" sz="1100" dirty="0">
                <a:solidFill>
                  <a:schemeClr val="accent5"/>
                </a:solidFill>
              </a:rPr>
              <a:t>Paste the dashboard chart here. Tehran first, 10 cities, no Unknown</a:t>
            </a:r>
            <a:endParaRPr lang="en-US" sz="1500" dirty="0"/>
          </a:p>
        </p:txBody>
      </p:sp>
      <p:sp>
        <p:nvSpPr>
          <p:cNvPr id="5" name="Chart frame: revenue per customer by segment"/>
          <p:cNvSpPr/>
          <p:nvPr/>
        </p:nvSpPr>
        <p:spPr>
          <a:xfrm>
            <a:off x="6245352" y="1600200"/>
            <a:ext cx="5394960" cy="3291840"/>
          </a:xfrm>
          <a:prstGeom prst="roundRect">
            <a:avLst>
              <a:gd name="adj" fmla="val 2222"/>
            </a:avLst>
          </a:prstGeom>
          <a:solidFill>
            <a:schemeClr val="tx2"/>
          </a:solidFill>
          <a:ln w="12700">
            <a:solidFill>
              <a:schemeClr val="accent3"/>
            </a:solidFill>
            <a:prstDash val="dash"/>
          </a:ln>
        </p:spPr>
      </p:sp>
      <p:sp>
        <p:nvSpPr>
          <p:cNvPr id="6" name="Text 4"/>
          <p:cNvSpPr txBox="1"/>
          <p:nvPr/>
        </p:nvSpPr>
        <p:spPr>
          <a:xfrm>
            <a:off x="6428232" y="1783080"/>
            <a:ext cx="5029200" cy="2926080"/>
          </a:xfrm>
          <a:prstGeom prst="rect">
            <a:avLst/>
          </a:prstGeom>
          <a:noFill/>
          <a:ln/>
        </p:spPr>
        <p:txBody>
          <a:bodyPr wrap="square" lIns="0" tIns="0" rIns="0" bIns="0" rtlCol="0" anchor="ctr"/>
          <a:lstStyle/>
          <a:p>
            <a:pPr algn="ctr" indent="0" marL="0">
              <a:buNone/>
            </a:pPr>
            <a:r>
              <a:rPr lang="en-US" sz="1500" b="1" dirty="0">
                <a:solidFill>
                  <a:schemeClr val="bg1"/>
                </a:solidFill>
              </a:rPr>
              <a:t>Revenue per customer by segment</a:t>
            </a:r>
            <a:endParaRPr lang="en-US" sz="1500" dirty="0"/>
          </a:p>
          <a:p>
            <a:pPr algn="ctr" indent="0" marL="0">
              <a:buNone/>
            </a:pPr>
            <a:r>
              <a:rPr lang="en-US" sz="1100" dirty="0">
                <a:solidFill>
                  <a:schemeClr val="accent5"/>
                </a:solidFill>
              </a:rPr>
              <a:t>Paste the dashboard chart here. New, Regular and VIP all near 300</a:t>
            </a:r>
            <a:endParaRPr lang="en-US" sz="1500" dirty="0"/>
          </a:p>
        </p:txBody>
      </p:sp>
      <p:sp>
        <p:nvSpPr>
          <p:cNvPr id="7" name="Shape 5"/>
          <p:cNvSpPr/>
          <p:nvPr/>
        </p:nvSpPr>
        <p:spPr>
          <a:xfrm>
            <a:off x="548640" y="5074920"/>
            <a:ext cx="64008" cy="914400"/>
          </a:xfrm>
          <a:prstGeom prst="rect">
            <a:avLst/>
          </a:prstGeom>
          <a:solidFill>
            <a:schemeClr val="accent2"/>
          </a:solidFill>
          <a:ln w="12700">
            <a:solidFill>
              <a:schemeClr val="accent2"/>
            </a:solidFill>
            <a:prstDash val="solid"/>
          </a:ln>
        </p:spPr>
      </p:sp>
      <p:sp>
        <p:nvSpPr>
          <p:cNvPr id="8" name="Text 6"/>
          <p:cNvSpPr txBox="1"/>
          <p:nvPr/>
        </p:nvSpPr>
        <p:spPr>
          <a:xfrm>
            <a:off x="777240" y="5074920"/>
            <a:ext cx="10863072" cy="914400"/>
          </a:xfrm>
          <a:prstGeom prst="rect">
            <a:avLst/>
          </a:prstGeom>
          <a:noFill/>
          <a:ln/>
        </p:spPr>
        <p:txBody>
          <a:bodyPr wrap="square" lIns="0" tIns="0" rIns="0" bIns="0" rtlCol="0" anchor="ctr"/>
          <a:lstStyle/>
          <a:p>
            <a:pPr indent="0" marL="0">
              <a:buNone/>
            </a:pPr>
            <a:r>
              <a:rPr lang="en-US" sz="1500" dirty="0">
                <a:solidFill>
                  <a:schemeClr val="tx1"/>
                </a:solidFill>
              </a:rPr>
              <a:t>Tehran brings in about 27.5% of revenue, followed by Mashhad (about 13%), Karaj and Isfahan (about 10% each). New, Regular and VIP customers each spend about 300, so the VIP label does not currently identify higher-value customers.</a:t>
            </a:r>
            <a:endParaRPr lang="en-US" sz="1500" dirty="0"/>
          </a:p>
        </p:txBody>
      </p:sp>
      <p:sp>
        <p:nvSpPr>
          <p:cNvPr id="9" name="Text 7"/>
          <p:cNvSpPr txBox="1"/>
          <p:nvPr/>
        </p:nvSpPr>
        <p:spPr>
          <a:xfrm>
            <a:off x="548640" y="6080760"/>
            <a:ext cx="11091672" cy="274320"/>
          </a:xfrm>
          <a:prstGeom prst="rect">
            <a:avLst/>
          </a:prstGeom>
          <a:noFill/>
          <a:ln/>
        </p:spPr>
        <p:txBody>
          <a:bodyPr wrap="square" lIns="0" tIns="0" rIns="0" bIns="0" rtlCol="0" anchor="ctr"/>
          <a:lstStyle/>
          <a:p>
            <a:pPr indent="0" marL="0">
              <a:buNone/>
            </a:pPr>
            <a:r>
              <a:rPr lang="en-US" sz="1000" i="1" dirty="0">
                <a:solidFill>
                  <a:schemeClr val="accent3"/>
                </a:solidFill>
              </a:rPr>
              <a:t>Customers with no city or segment recorded (Unknown) are excluded from these charts but included in total revenue.</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About 8% of orders are lost, and deeper discounts only lower the order value</a:t>
            </a:r>
            <a:endParaRPr lang="en-US" sz="2600" dirty="0"/>
          </a:p>
        </p:txBody>
      </p:sp>
      <p:sp>
        <p:nvSpPr>
          <p:cNvPr id="3" name="Chart frame: order status"/>
          <p:cNvSpPr/>
          <p:nvPr/>
        </p:nvSpPr>
        <p:spPr>
          <a:xfrm>
            <a:off x="548640" y="1600200"/>
            <a:ext cx="3566160" cy="3291840"/>
          </a:xfrm>
          <a:prstGeom prst="roundRect">
            <a:avLst>
              <a:gd name="adj" fmla="val 2222"/>
            </a:avLst>
          </a:prstGeom>
          <a:solidFill>
            <a:schemeClr val="tx2"/>
          </a:solidFill>
          <a:ln w="12700">
            <a:solidFill>
              <a:schemeClr val="accent3"/>
            </a:solidFill>
            <a:prstDash val="dash"/>
          </a:ln>
        </p:spPr>
      </p:sp>
      <p:sp>
        <p:nvSpPr>
          <p:cNvPr id="4" name="Text 2"/>
          <p:cNvSpPr txBox="1"/>
          <p:nvPr/>
        </p:nvSpPr>
        <p:spPr>
          <a:xfrm>
            <a:off x="731520" y="1783080"/>
            <a:ext cx="3200400" cy="2926080"/>
          </a:xfrm>
          <a:prstGeom prst="rect">
            <a:avLst/>
          </a:prstGeom>
          <a:noFill/>
          <a:ln/>
        </p:spPr>
        <p:txBody>
          <a:bodyPr wrap="square" lIns="0" tIns="0" rIns="0" bIns="0" rtlCol="0" anchor="ctr"/>
          <a:lstStyle/>
          <a:p>
            <a:pPr algn="ctr" indent="0" marL="0">
              <a:buNone/>
            </a:pPr>
            <a:r>
              <a:rPr lang="en-US" sz="1500" b="1" dirty="0">
                <a:solidFill>
                  <a:schemeClr val="bg1"/>
                </a:solidFill>
              </a:rPr>
              <a:t>Order status</a:t>
            </a:r>
            <a:endParaRPr lang="en-US" sz="1500" dirty="0"/>
          </a:p>
          <a:p>
            <a:pPr algn="ctr" indent="0" marL="0">
              <a:buNone/>
            </a:pPr>
            <a:r>
              <a:rPr lang="en-US" sz="1100" dirty="0">
                <a:solidFill>
                  <a:schemeClr val="accent5"/>
                </a:solidFill>
              </a:rPr>
              <a:t>Paste the dashboard chart here. About 92% completed, 5% cancelled, 3% returned</a:t>
            </a:r>
            <a:endParaRPr lang="en-US" sz="1500" dirty="0"/>
          </a:p>
        </p:txBody>
      </p:sp>
      <p:sp>
        <p:nvSpPr>
          <p:cNvPr id="5" name="Chart frame: payment failure"/>
          <p:cNvSpPr/>
          <p:nvPr/>
        </p:nvSpPr>
        <p:spPr>
          <a:xfrm>
            <a:off x="4311396" y="1600200"/>
            <a:ext cx="3566160" cy="3291840"/>
          </a:xfrm>
          <a:prstGeom prst="roundRect">
            <a:avLst>
              <a:gd name="adj" fmla="val 2222"/>
            </a:avLst>
          </a:prstGeom>
          <a:solidFill>
            <a:schemeClr val="tx2"/>
          </a:solidFill>
          <a:ln w="12700">
            <a:solidFill>
              <a:schemeClr val="accent3"/>
            </a:solidFill>
            <a:prstDash val="dash"/>
          </a:ln>
        </p:spPr>
      </p:sp>
      <p:sp>
        <p:nvSpPr>
          <p:cNvPr id="6" name="Text 4"/>
          <p:cNvSpPr txBox="1"/>
          <p:nvPr/>
        </p:nvSpPr>
        <p:spPr>
          <a:xfrm>
            <a:off x="4494276" y="1783080"/>
            <a:ext cx="3200400" cy="2926080"/>
          </a:xfrm>
          <a:prstGeom prst="rect">
            <a:avLst/>
          </a:prstGeom>
          <a:noFill/>
          <a:ln/>
        </p:spPr>
        <p:txBody>
          <a:bodyPr wrap="square" lIns="0" tIns="0" rIns="0" bIns="0" rtlCol="0" anchor="ctr"/>
          <a:lstStyle/>
          <a:p>
            <a:pPr algn="ctr" indent="0" marL="0">
              <a:buNone/>
            </a:pPr>
            <a:r>
              <a:rPr lang="en-US" sz="1500" b="1" dirty="0">
                <a:solidFill>
                  <a:schemeClr val="bg1"/>
                </a:solidFill>
              </a:rPr>
              <a:t>Payment failure by method</a:t>
            </a:r>
            <a:endParaRPr lang="en-US" sz="1500" dirty="0"/>
          </a:p>
          <a:p>
            <a:pPr algn="ctr" indent="0" marL="0">
              <a:buNone/>
            </a:pPr>
            <a:r>
              <a:rPr lang="en-US" sz="1100" dirty="0">
                <a:solidFill>
                  <a:schemeClr val="accent5"/>
                </a:solidFill>
              </a:rPr>
              <a:t>Paste the dashboard chart here. About 3.6% to 3.9%, similar for every method</a:t>
            </a:r>
            <a:endParaRPr lang="en-US" sz="1500" dirty="0"/>
          </a:p>
        </p:txBody>
      </p:sp>
      <p:sp>
        <p:nvSpPr>
          <p:cNvPr id="7" name="Chart frame: discount"/>
          <p:cNvSpPr/>
          <p:nvPr/>
        </p:nvSpPr>
        <p:spPr>
          <a:xfrm>
            <a:off x="8074152" y="1600200"/>
            <a:ext cx="3566160" cy="3291840"/>
          </a:xfrm>
          <a:prstGeom prst="roundRect">
            <a:avLst>
              <a:gd name="adj" fmla="val 2222"/>
            </a:avLst>
          </a:prstGeom>
          <a:solidFill>
            <a:schemeClr val="tx2"/>
          </a:solidFill>
          <a:ln w="12700">
            <a:solidFill>
              <a:schemeClr val="accent3"/>
            </a:solidFill>
            <a:prstDash val="dash"/>
          </a:ln>
        </p:spPr>
      </p:sp>
      <p:sp>
        <p:nvSpPr>
          <p:cNvPr id="8" name="Text 6"/>
          <p:cNvSpPr txBox="1"/>
          <p:nvPr/>
        </p:nvSpPr>
        <p:spPr>
          <a:xfrm>
            <a:off x="8257032" y="1783080"/>
            <a:ext cx="3200400" cy="2926080"/>
          </a:xfrm>
          <a:prstGeom prst="rect">
            <a:avLst/>
          </a:prstGeom>
          <a:noFill/>
          <a:ln/>
        </p:spPr>
        <p:txBody>
          <a:bodyPr wrap="square" lIns="0" tIns="0" rIns="0" bIns="0" rtlCol="0" anchor="ctr"/>
          <a:lstStyle/>
          <a:p>
            <a:pPr algn="ctr" indent="0" marL="0">
              <a:buNone/>
            </a:pPr>
            <a:r>
              <a:rPr lang="en-US" sz="1500" b="1" dirty="0">
                <a:solidFill>
                  <a:schemeClr val="bg1"/>
                </a:solidFill>
              </a:rPr>
              <a:t>Average order value by discount</a:t>
            </a:r>
            <a:endParaRPr lang="en-US" sz="1500" dirty="0"/>
          </a:p>
          <a:p>
            <a:pPr algn="ctr" indent="0" marL="0">
              <a:buNone/>
            </a:pPr>
            <a:r>
              <a:rPr lang="en-US" sz="1100" dirty="0">
                <a:solidFill>
                  <a:schemeClr val="accent5"/>
                </a:solidFill>
              </a:rPr>
              <a:t>Paste the dashboard chart here. Falls from about 75 to about 56 as discounts rise</a:t>
            </a:r>
            <a:endParaRPr lang="en-US" sz="1500" dirty="0"/>
          </a:p>
        </p:txBody>
      </p:sp>
      <p:sp>
        <p:nvSpPr>
          <p:cNvPr id="9" name="Shape 7"/>
          <p:cNvSpPr/>
          <p:nvPr/>
        </p:nvSpPr>
        <p:spPr>
          <a:xfrm>
            <a:off x="548640" y="5074920"/>
            <a:ext cx="64008" cy="914400"/>
          </a:xfrm>
          <a:prstGeom prst="rect">
            <a:avLst/>
          </a:prstGeom>
          <a:solidFill>
            <a:schemeClr val="accent2"/>
          </a:solidFill>
          <a:ln w="12700">
            <a:solidFill>
              <a:schemeClr val="accent2"/>
            </a:solidFill>
            <a:prstDash val="solid"/>
          </a:ln>
        </p:spPr>
      </p:sp>
      <p:sp>
        <p:nvSpPr>
          <p:cNvPr id="10" name="Text 8"/>
          <p:cNvSpPr txBox="1"/>
          <p:nvPr/>
        </p:nvSpPr>
        <p:spPr>
          <a:xfrm>
            <a:off x="777240" y="5074920"/>
            <a:ext cx="10863072" cy="914400"/>
          </a:xfrm>
          <a:prstGeom prst="rect">
            <a:avLst/>
          </a:prstGeom>
          <a:noFill/>
          <a:ln/>
        </p:spPr>
        <p:txBody>
          <a:bodyPr wrap="square" lIns="0" tIns="0" rIns="0" bIns="0" rtlCol="0" anchor="ctr"/>
          <a:lstStyle/>
          <a:p>
            <a:pPr indent="0" marL="0">
              <a:buNone/>
            </a:pPr>
            <a:r>
              <a:rPr lang="en-US" sz="1500" dirty="0">
                <a:solidFill>
                  <a:schemeClr val="tx1"/>
                </a:solidFill>
              </a:rPr>
              <a:t>8% of orders are cancelled or returned, and about 4% of payments fail at a similar rate for every payment method, so switching methods would not help. Customers buy about 1.9 items at every discount level, so deeper discounts give away revenue (about 246,000, or 7.6% of gross sales) without growing the basket.</a:t>
            </a:r>
            <a:endParaRPr lang="en-US" sz="1500" dirty="0"/>
          </a:p>
        </p:txBody>
      </p:sp>
      <p:sp>
        <p:nvSpPr>
          <p:cNvPr id="11" name="Text 9"/>
          <p:cNvSpPr txBox="1"/>
          <p:nvPr/>
        </p:nvSpPr>
        <p:spPr>
          <a:xfrm>
            <a:off x="548640" y="6080760"/>
            <a:ext cx="11091672" cy="274320"/>
          </a:xfrm>
          <a:prstGeom prst="rect">
            <a:avLst/>
          </a:prstGeom>
          <a:noFill/>
          <a:ln/>
        </p:spPr>
        <p:txBody>
          <a:bodyPr wrap="square" lIns="0" tIns="0" rIns="0" bIns="0" rtlCol="0" anchor="ctr"/>
          <a:lstStyle/>
          <a:p>
            <a:pPr indent="0" marL="0">
              <a:buNone/>
            </a:pPr>
            <a:r>
              <a:rPr lang="en-US" sz="1000" i="1" dirty="0">
                <a:solidFill>
                  <a:schemeClr val="accent3"/>
                </a:solidFill>
              </a:rPr>
              <a:t>Orders with no recorded payment method (449) are excluded from the payment chart; their failure rate (about 4%) is in line with the others.</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Three actions for the Head of Operations</a:t>
            </a:r>
            <a:endParaRPr lang="en-US" sz="2600" dirty="0"/>
          </a:p>
        </p:txBody>
      </p:sp>
      <p:sp>
        <p:nvSpPr>
          <p:cNvPr id="3" name="Recommendation card 1"/>
          <p:cNvSpPr/>
          <p:nvPr/>
        </p:nvSpPr>
        <p:spPr>
          <a:xfrm>
            <a:off x="548640" y="1600200"/>
            <a:ext cx="3511296" cy="4526280"/>
          </a:xfrm>
          <a:prstGeom prst="roundRect">
            <a:avLst>
              <a:gd name="adj" fmla="val 2083"/>
            </a:avLst>
          </a:prstGeom>
          <a:solidFill>
            <a:schemeClr val="bg1"/>
          </a:solidFill>
          <a:ln w="12700">
            <a:solidFill>
              <a:schemeClr val="accent6"/>
            </a:solidFill>
            <a:prstDash val="solid"/>
          </a:ln>
        </p:spPr>
      </p:sp>
      <p:sp>
        <p:nvSpPr>
          <p:cNvPr id="4" name="Text 2"/>
          <p:cNvSpPr txBox="1"/>
          <p:nvPr/>
        </p:nvSpPr>
        <p:spPr>
          <a:xfrm>
            <a:off x="822960" y="1783080"/>
            <a:ext cx="914400" cy="731520"/>
          </a:xfrm>
          <a:prstGeom prst="rect">
            <a:avLst/>
          </a:prstGeom>
          <a:noFill/>
          <a:ln/>
        </p:spPr>
        <p:txBody>
          <a:bodyPr wrap="square" lIns="0" tIns="0" rIns="0" bIns="0" rtlCol="0" anchor="ctr"/>
          <a:lstStyle/>
          <a:p>
            <a:pPr indent="0" marL="0">
              <a:buNone/>
            </a:pPr>
            <a:r>
              <a:rPr lang="en-US" sz="4000" b="1" dirty="0">
                <a:solidFill>
                  <a:schemeClr val="accent2"/>
                </a:solidFill>
                <a:latin typeface="Georgia" pitchFamily="34" charset="0"/>
                <a:ea typeface="Georgia" pitchFamily="34" charset="-122"/>
                <a:cs typeface="Georgia" pitchFamily="34" charset="-120"/>
              </a:rPr>
              <a:t>1</a:t>
            </a:r>
            <a:endParaRPr lang="en-US" sz="4000" dirty="0"/>
          </a:p>
        </p:txBody>
      </p:sp>
      <p:sp>
        <p:nvSpPr>
          <p:cNvPr id="5" name="Text 3"/>
          <p:cNvSpPr txBox="1"/>
          <p:nvPr/>
        </p:nvSpPr>
        <p:spPr>
          <a:xfrm>
            <a:off x="822960" y="2606040"/>
            <a:ext cx="2962656" cy="914400"/>
          </a:xfrm>
          <a:prstGeom prst="rect">
            <a:avLst/>
          </a:prstGeom>
          <a:noFill/>
          <a:ln/>
        </p:spPr>
        <p:txBody>
          <a:bodyPr wrap="square" lIns="0" tIns="0" rIns="0" bIns="0" rtlCol="0" anchor="t"/>
          <a:lstStyle/>
          <a:p>
            <a:pPr indent="0" marL="0">
              <a:buNone/>
            </a:pPr>
            <a:r>
              <a:rPr lang="en-US" sz="1800" b="1" dirty="0">
                <a:solidFill>
                  <a:schemeClr val="tx1"/>
                </a:solidFill>
              </a:rPr>
              <a:t>Find out what changed in early February 2026</a:t>
            </a:r>
            <a:endParaRPr lang="en-US" sz="1800" dirty="0"/>
          </a:p>
        </p:txBody>
      </p:sp>
      <p:sp>
        <p:nvSpPr>
          <p:cNvPr id="6" name="Text 4"/>
          <p:cNvSpPr txBox="1"/>
          <p:nvPr/>
        </p:nvSpPr>
        <p:spPr>
          <a:xfrm>
            <a:off x="822960" y="3611880"/>
            <a:ext cx="2962656" cy="2331720"/>
          </a:xfrm>
          <a:prstGeom prst="rect">
            <a:avLst/>
          </a:prstGeom>
          <a:noFill/>
          <a:ln/>
        </p:spPr>
        <p:txBody>
          <a:bodyPr wrap="square" lIns="0" tIns="0" rIns="0" bIns="0" rtlCol="0" anchor="t"/>
          <a:lstStyle/>
          <a:p>
            <a:pPr indent="0" marL="0">
              <a:buNone/>
            </a:pPr>
            <a:r>
              <a:rPr lang="en-US" sz="1400" dirty="0">
                <a:solidFill>
                  <a:schemeClr val="tx1"/>
                </a:solidFill>
              </a:rPr>
              <a:t>Orders fell from about 1,500 to about 1,000 a month across every category, city and segment at once. Check traffic, marketing, site changes and data collection from the start of February. Closing the gap is worth about 34,000 of revenue a month.</a:t>
            </a:r>
            <a:endParaRPr lang="en-US" sz="1400" dirty="0"/>
          </a:p>
        </p:txBody>
      </p:sp>
      <p:sp>
        <p:nvSpPr>
          <p:cNvPr id="7" name="Recommendation card 2"/>
          <p:cNvSpPr/>
          <p:nvPr/>
        </p:nvSpPr>
        <p:spPr>
          <a:xfrm>
            <a:off x="4338828" y="1600200"/>
            <a:ext cx="3511296" cy="4526280"/>
          </a:xfrm>
          <a:prstGeom prst="roundRect">
            <a:avLst>
              <a:gd name="adj" fmla="val 2083"/>
            </a:avLst>
          </a:prstGeom>
          <a:solidFill>
            <a:schemeClr val="bg1"/>
          </a:solidFill>
          <a:ln w="12700">
            <a:solidFill>
              <a:schemeClr val="accent6"/>
            </a:solidFill>
            <a:prstDash val="solid"/>
          </a:ln>
        </p:spPr>
      </p:sp>
      <p:sp>
        <p:nvSpPr>
          <p:cNvPr id="8" name="Text 6"/>
          <p:cNvSpPr txBox="1"/>
          <p:nvPr/>
        </p:nvSpPr>
        <p:spPr>
          <a:xfrm>
            <a:off x="4613148" y="1783080"/>
            <a:ext cx="914400" cy="731520"/>
          </a:xfrm>
          <a:prstGeom prst="rect">
            <a:avLst/>
          </a:prstGeom>
          <a:noFill/>
          <a:ln/>
        </p:spPr>
        <p:txBody>
          <a:bodyPr wrap="square" lIns="0" tIns="0" rIns="0" bIns="0" rtlCol="0" anchor="ctr"/>
          <a:lstStyle/>
          <a:p>
            <a:pPr indent="0" marL="0">
              <a:buNone/>
            </a:pPr>
            <a:r>
              <a:rPr lang="en-US" sz="4000" b="1" dirty="0">
                <a:solidFill>
                  <a:schemeClr val="accent2"/>
                </a:solidFill>
                <a:latin typeface="Georgia" pitchFamily="34" charset="0"/>
                <a:ea typeface="Georgia" pitchFamily="34" charset="-122"/>
                <a:cs typeface="Georgia" pitchFamily="34" charset="-120"/>
              </a:rPr>
              <a:t>2</a:t>
            </a:r>
            <a:endParaRPr lang="en-US" sz="4000" dirty="0"/>
          </a:p>
        </p:txBody>
      </p:sp>
      <p:sp>
        <p:nvSpPr>
          <p:cNvPr id="9" name="Text 7"/>
          <p:cNvSpPr txBox="1"/>
          <p:nvPr/>
        </p:nvSpPr>
        <p:spPr>
          <a:xfrm>
            <a:off x="4613148" y="2606040"/>
            <a:ext cx="2962656" cy="914400"/>
          </a:xfrm>
          <a:prstGeom prst="rect">
            <a:avLst/>
          </a:prstGeom>
          <a:noFill/>
          <a:ln/>
        </p:spPr>
        <p:txBody>
          <a:bodyPr wrap="square" lIns="0" tIns="0" rIns="0" bIns="0" rtlCol="0" anchor="t"/>
          <a:lstStyle/>
          <a:p>
            <a:pPr indent="0" marL="0">
              <a:buNone/>
            </a:pPr>
            <a:r>
              <a:rPr lang="en-US" sz="1800" b="1" dirty="0">
                <a:solidFill>
                  <a:schemeClr val="tx1"/>
                </a:solidFill>
              </a:rPr>
              <a:t>Cut back deep discounts</a:t>
            </a:r>
            <a:endParaRPr lang="en-US" sz="1800" dirty="0"/>
          </a:p>
        </p:txBody>
      </p:sp>
      <p:sp>
        <p:nvSpPr>
          <p:cNvPr id="10" name="Text 8"/>
          <p:cNvSpPr txBox="1"/>
          <p:nvPr/>
        </p:nvSpPr>
        <p:spPr>
          <a:xfrm>
            <a:off x="4613148" y="3611880"/>
            <a:ext cx="2962656" cy="2331720"/>
          </a:xfrm>
          <a:prstGeom prst="rect">
            <a:avLst/>
          </a:prstGeom>
          <a:noFill/>
          <a:ln/>
        </p:spPr>
        <p:txBody>
          <a:bodyPr wrap="square" lIns="0" tIns="0" rIns="0" bIns="0" rtlCol="0" anchor="t"/>
          <a:lstStyle/>
          <a:p>
            <a:pPr indent="0" marL="0">
              <a:buNone/>
            </a:pPr>
            <a:r>
              <a:rPr lang="en-US" sz="1400" dirty="0">
                <a:solidFill>
                  <a:schemeClr val="tx1"/>
                </a:solidFill>
              </a:rPr>
              <a:t>Customers buy about 1.9 items at 30% off, the same as at full price. The 20% and 30% tiers alone gave away about 87,000. Test capping discounts at 10% and watch whether order numbers hold.</a:t>
            </a:r>
            <a:endParaRPr lang="en-US" sz="1400" dirty="0"/>
          </a:p>
        </p:txBody>
      </p:sp>
      <p:sp>
        <p:nvSpPr>
          <p:cNvPr id="11" name="Recommendation card 3"/>
          <p:cNvSpPr/>
          <p:nvPr/>
        </p:nvSpPr>
        <p:spPr>
          <a:xfrm>
            <a:off x="8129016" y="1600200"/>
            <a:ext cx="3511296" cy="4526280"/>
          </a:xfrm>
          <a:prstGeom prst="roundRect">
            <a:avLst>
              <a:gd name="adj" fmla="val 2083"/>
            </a:avLst>
          </a:prstGeom>
          <a:solidFill>
            <a:schemeClr val="bg1"/>
          </a:solidFill>
          <a:ln w="12700">
            <a:solidFill>
              <a:schemeClr val="accent6"/>
            </a:solidFill>
            <a:prstDash val="solid"/>
          </a:ln>
        </p:spPr>
      </p:sp>
      <p:sp>
        <p:nvSpPr>
          <p:cNvPr id="12" name="Text 10"/>
          <p:cNvSpPr txBox="1"/>
          <p:nvPr/>
        </p:nvSpPr>
        <p:spPr>
          <a:xfrm>
            <a:off x="8403336" y="1783080"/>
            <a:ext cx="914400" cy="731520"/>
          </a:xfrm>
          <a:prstGeom prst="rect">
            <a:avLst/>
          </a:prstGeom>
          <a:noFill/>
          <a:ln/>
        </p:spPr>
        <p:txBody>
          <a:bodyPr wrap="square" lIns="0" tIns="0" rIns="0" bIns="0" rtlCol="0" anchor="ctr"/>
          <a:lstStyle/>
          <a:p>
            <a:pPr indent="0" marL="0">
              <a:buNone/>
            </a:pPr>
            <a:r>
              <a:rPr lang="en-US" sz="4000" b="1" dirty="0">
                <a:solidFill>
                  <a:schemeClr val="accent2"/>
                </a:solidFill>
                <a:latin typeface="Georgia" pitchFamily="34" charset="0"/>
                <a:ea typeface="Georgia" pitchFamily="34" charset="-122"/>
                <a:cs typeface="Georgia" pitchFamily="34" charset="-120"/>
              </a:rPr>
              <a:t>3</a:t>
            </a:r>
            <a:endParaRPr lang="en-US" sz="4000" dirty="0"/>
          </a:p>
        </p:txBody>
      </p:sp>
      <p:sp>
        <p:nvSpPr>
          <p:cNvPr id="13" name="Text 11"/>
          <p:cNvSpPr txBox="1"/>
          <p:nvPr/>
        </p:nvSpPr>
        <p:spPr>
          <a:xfrm>
            <a:off x="8403336" y="2606040"/>
            <a:ext cx="2962656" cy="914400"/>
          </a:xfrm>
          <a:prstGeom prst="rect">
            <a:avLst/>
          </a:prstGeom>
          <a:noFill/>
          <a:ln/>
        </p:spPr>
        <p:txBody>
          <a:bodyPr wrap="square" lIns="0" tIns="0" rIns="0" bIns="0" rtlCol="0" anchor="t"/>
          <a:lstStyle/>
          <a:p>
            <a:pPr indent="0" marL="0">
              <a:buNone/>
            </a:pPr>
            <a:r>
              <a:rPr lang="en-US" sz="1800" b="1" dirty="0">
                <a:solidFill>
                  <a:schemeClr val="tx1"/>
                </a:solidFill>
              </a:rPr>
              <a:t>Put stock and promotion behind high-value products</a:t>
            </a:r>
            <a:endParaRPr lang="en-US" sz="1800" dirty="0"/>
          </a:p>
        </p:txBody>
      </p:sp>
      <p:sp>
        <p:nvSpPr>
          <p:cNvPr id="14" name="Text 12"/>
          <p:cNvSpPr txBox="1"/>
          <p:nvPr/>
        </p:nvSpPr>
        <p:spPr>
          <a:xfrm>
            <a:off x="8403336" y="3611880"/>
            <a:ext cx="2962656" cy="2331720"/>
          </a:xfrm>
          <a:prstGeom prst="rect">
            <a:avLst/>
          </a:prstGeom>
          <a:noFill/>
          <a:ln/>
        </p:spPr>
        <p:txBody>
          <a:bodyPr wrap="square" lIns="0" tIns="0" rIns="0" bIns="0" rtlCol="0" anchor="t"/>
          <a:lstStyle/>
          <a:p>
            <a:pPr indent="0" marL="0">
              <a:buNone/>
            </a:pPr>
            <a:r>
              <a:rPr lang="en-US" sz="1400" dirty="0">
                <a:solidFill>
                  <a:schemeClr val="tx1"/>
                </a:solidFill>
              </a:rPr>
              <a:t>Headphones, Office Chair and Tablet earn about 28% of revenue from under 9% of units. Keep them in stock and promote them first, and confirm the Monitor's price, which may be understating revenue.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1672" cy="960120"/>
          </a:xfrm>
          <a:prstGeom prst="rect">
            <a:avLst/>
          </a:prstGeom>
          <a:noFill/>
          <a:ln/>
        </p:spPr>
        <p:txBody>
          <a:bodyPr wrap="square" lIns="0" tIns="0" rIns="0" bIns="0" rtlCol="0" anchor="ctr">
            <a:normAutofit/>
          </a:bodyPr>
          <a:lstStyle/>
          <a:p>
            <a:pPr indent="0" marL="0">
              <a:buNone/>
            </a:pPr>
            <a:r>
              <a:rPr lang="en-US" sz="2600" b="1" dirty="0">
                <a:solidFill>
                  <a:schemeClr val="tx1"/>
                </a:solidFill>
                <a:latin typeface="Georgia" pitchFamily="34" charset="0"/>
                <a:ea typeface="Georgia" pitchFamily="34" charset="-122"/>
                <a:cs typeface="Georgia" pitchFamily="34" charset="-120"/>
              </a:rPr>
              <a:t>What was wrong with the data, and how it was handled</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291840"/>
                <a:gridCol w="3840480"/>
                <a:gridCol w="3959352"/>
              </a:tblGrid>
              <a:tr h="365760">
                <a:tc>
                  <a:txBody>
                    <a:bodyPr/>
                    <a:lstStyle/>
                    <a:p>
                      <a:pPr indent="0" marL="0">
                        <a:buNone/>
                      </a:pPr>
                      <a:r>
                        <a:rPr lang="en-US" sz="1200" b="1" dirty="0">
                          <a:solidFill>
                            <a:schemeClr val="bg1"/>
                          </a:solidFill>
                        </a:rPr>
                        <a:t>Problem</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 found</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 did</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r>
              <a:tr h="365760">
                <a:tc>
                  <a:txBody>
                    <a:bodyPr/>
                    <a:lstStyle/>
                    <a:p>
                      <a:pPr indent="0" marL="0">
                        <a:buNone/>
                      </a:pPr>
                      <a:r>
                        <a:rPr lang="en-US" sz="1200" b="1" dirty="0">
                          <a:solidFill>
                            <a:schemeClr val="tx1"/>
                          </a:solidFill>
                        </a:rPr>
                        <a:t>Duplicate orders</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120 repeated order lines</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Removed</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Missing or invalid quantity</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80 blank, 25 zero or negative</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Rows removed</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Missing discount</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220 blank</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Treated as no discount (0)</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Missing payment method</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449 blank</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Labelled Unknown, kept</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Inconsistent city names</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tehran, Mashad; 119 blank</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Standardised; blanks labelled Unknown</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Missing age</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180 blank</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Filled with the median (41)</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Orders with no customer record</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30 lines, all CustomerID 999999</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Kept; city and segment Unknown</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Orders with no date</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35 orders</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Kept in totals, left out of time charts</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rPr>
                        <a:t>Monitor price</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21, looks too low</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Kept, flagged as possibly incorrect</a:t>
                      </a:r>
                      <a:endParaRPr lang="en-US" sz="12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Shape 1"/>
          <p:cNvSpPr/>
          <p:nvPr/>
        </p:nvSpPr>
        <p:spPr>
          <a:xfrm>
            <a:off x="548640" y="5440680"/>
            <a:ext cx="64008" cy="685800"/>
          </a:xfrm>
          <a:prstGeom prst="rect">
            <a:avLst/>
          </a:prstGeom>
          <a:solidFill>
            <a:schemeClr val="accent2"/>
          </a:solidFill>
          <a:ln w="12700">
            <a:solidFill>
              <a:schemeClr val="accent2"/>
            </a:solidFill>
            <a:prstDash val="solid"/>
          </a:ln>
        </p:spPr>
      </p:sp>
      <p:sp>
        <p:nvSpPr>
          <p:cNvPr id="5" name="Text 2"/>
          <p:cNvSpPr txBox="1"/>
          <p:nvPr/>
        </p:nvSpPr>
        <p:spPr>
          <a:xfrm>
            <a:off x="777240" y="5440680"/>
            <a:ext cx="10863072" cy="685800"/>
          </a:xfrm>
          <a:prstGeom prst="rect">
            <a:avLst/>
          </a:prstGeom>
          <a:noFill/>
          <a:ln/>
        </p:spPr>
        <p:txBody>
          <a:bodyPr wrap="square" lIns="0" tIns="0" rIns="0" bIns="0" rtlCol="0" anchor="ctr"/>
          <a:lstStyle/>
          <a:p>
            <a:pPr indent="0" marL="0">
              <a:buNone/>
            </a:pPr>
            <a:r>
              <a:rPr lang="en-US" sz="1500" dirty="0">
                <a:solidFill>
                  <a:schemeClr val="tx1"/>
                </a:solidFill>
              </a:rPr>
              <a:t>Revenue counts only orders that are Completed and Paid (42,754 of 49,895 order lines). Cancelled, returned, failed and refunded orders are not counted. Every join kept 49,895 rows.</a:t>
            </a:r>
            <a:endParaRPr lang="en-US" sz="1500" dirty="0"/>
          </a:p>
        </p:txBody>
      </p:sp>
      <p:sp>
        <p:nvSpPr>
          <p:cNvPr id="6" name="Text 3"/>
          <p:cNvSpPr txBox="1"/>
          <p:nvPr/>
        </p:nvSpPr>
        <p:spPr>
          <a:xfrm>
            <a:off x="548640" y="6144768"/>
            <a:ext cx="11091672" cy="274320"/>
          </a:xfrm>
          <a:prstGeom prst="rect">
            <a:avLst/>
          </a:prstGeom>
          <a:noFill/>
          <a:ln/>
        </p:spPr>
        <p:txBody>
          <a:bodyPr wrap="square" lIns="0" tIns="0" rIns="0" bIns="0" rtlCol="0" anchor="ctr"/>
          <a:lstStyle/>
          <a:p>
            <a:pPr indent="0" marL="0">
              <a:buNone/>
            </a:pPr>
            <a:r>
              <a:rPr lang="en-US" sz="1000" i="1" dirty="0">
                <a:solidFill>
                  <a:schemeClr val="accent3"/>
                </a:solidFill>
              </a:rPr>
              <a:t>Cleaning steps are in the notebook, and the cleaned table is saved as workspace.default.shop_joined.</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hop Performance">
  <a:themeElements>
    <a:clrScheme name="Shop Performance">
      <a:dk1>
        <a:srgbClr val="1B2A41"/>
      </a:dk1>
      <a:lt1>
        <a:srgbClr val="FFFFFF"/>
      </a:lt1>
      <a:dk2>
        <a:srgbClr val="14181E"/>
      </a:dk2>
      <a:lt2>
        <a:srgbClr val="F2F4F7"/>
      </a:lt2>
      <a:accent1>
        <a:srgbClr val="2A9D8F"/>
      </a:accent1>
      <a:accent2>
        <a:srgbClr val="E8A33D"/>
      </a:accent2>
      <a:accent3>
        <a:srgbClr val="8A94A6"/>
      </a:accent3>
      <a:accent4>
        <a:srgbClr val="1B2A41"/>
      </a:accent4>
      <a:accent5>
        <a:srgbClr val="C9CFD8"/>
      </a:accent5>
      <a:accent6>
        <a:srgbClr val="D9DEE6"/>
      </a:accent6>
      <a:hlink>
        <a:srgbClr val="2A9D8F"/>
      </a:hlink>
      <a:folHlink>
        <a:srgbClr val="8A94A6"/>
      </a:folHlink>
    </a:clrScheme>
    <a:fontScheme name="Shop Performan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is the shop performing? Jan 2024 to Jun 2026</dc:title>
  <dc:subject>PptxGenJS Presentation</dc:subject>
  <dc:creator>PptxGenJS</dc:creator>
  <cp:lastModifiedBy>PptxGenJS</cp:lastModifiedBy>
  <cp:revision>1</cp:revision>
  <dcterms:created xsi:type="dcterms:W3CDTF">2026-10-18T19:30:55Z</dcterms:created>
  <dcterms:modified xsi:type="dcterms:W3CDTF">2026-10-18T19:30:55Z</dcterms:modified>
</cp:coreProperties>
</file>